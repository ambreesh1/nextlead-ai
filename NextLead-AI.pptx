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Epilogue Thin"/>
      <p:regular r:id="rId201314"/>
    </p:embeddedFont>
    <p:embeddedFont>
      <p:font typeface="Epilogue ExtraLight"/>
      <p:regular r:id="rId201315"/>
    </p:embeddedFont>
    <p:embeddedFont>
      <p:font typeface="Epilogue Light"/>
      <p:regular r:id="rId201316"/>
    </p:embeddedFont>
    <p:embeddedFont>
      <p:font typeface="Epilogue"/>
      <p:regular r:id="rId201317"/>
    </p:embeddedFont>
    <p:embeddedFont>
      <p:font typeface="Epilogue Medium"/>
      <p:regular r:id="rId201318"/>
    </p:embeddedFont>
    <p:embeddedFont>
      <p:font typeface="Epilogue SemiBold"/>
      <p:regular r:id="rId201319"/>
    </p:embeddedFont>
    <p:embeddedFont>
      <p:font typeface="Epilogue ExtraBold"/>
      <p:regular r:id="rId201320"/>
    </p:embeddedFont>
    <p:embeddedFont>
      <p:font typeface="Epilogue Black"/>
      <p:regular r:id="rId201321"/>
    </p:embeddedFont>
    <p:embeddedFont>
      <p:font typeface="Epilogue Bold"/>
      <p:regular r:id="rId201322"/>
    </p:embeddedFont>
    <p:embeddedFont>
      <p:font typeface="Fraunces Light"/>
      <p:regular r:id="rId201323"/>
    </p:embeddedFont>
    <p:embeddedFont>
      <p:font typeface="Fraunces Thin"/>
      <p:regular r:id="rId201324"/>
    </p:embeddedFont>
    <p:embeddedFont>
      <p:font typeface="Fraunces ExtraLight"/>
      <p:regular r:id="rId201325"/>
    </p:embeddedFont>
    <p:embeddedFont>
      <p:font typeface="Fraunces"/>
      <p:regular r:id="rId201326"/>
    </p:embeddedFont>
    <p:embeddedFont>
      <p:font typeface="Fraunces Medium"/>
      <p:regular r:id="rId201327"/>
    </p:embeddedFont>
    <p:embeddedFont>
      <p:font typeface="Fraunces SemiBold"/>
      <p:regular r:id="rId201328"/>
    </p:embeddedFont>
    <p:embeddedFont>
      <p:font typeface="Fraunces Bold"/>
      <p:regular r:id="rId201329"/>
    </p:embeddedFont>
    <p:embeddedFont>
      <p:font typeface="Fraunces ExtraBold"/>
      <p:regular r:id="rId201330"/>
    </p:embeddedFont>
    <p:embeddedFont>
      <p:font typeface="Fraunces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8.png"/><Relationship Id="rId11" Type="http://schemas.openxmlformats.org/officeDocument/2006/relationships/image" Target="../media/image-2-9.svg"/><Relationship Id="rId12" Type="http://schemas.openxmlformats.org/officeDocument/2006/relationships/image" Target="../media/image-2-8.png"/><Relationship Id="rId13" Type="http://schemas.openxmlformats.org/officeDocument/2006/relationships/image" Target="../media/image-2-9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l4w8zewnl3e129u/24e8ed4f0e6b4f6690f7eb5b0d60b74f/original/Screenshot-2026-07-17-004353.png" TargetMode="External"/><Relationship Id="rId2" Type="http://schemas.openxmlformats.org/officeDocument/2006/relationships/hyperlink" Target="https://cdn.gamma.app/l4w8zewnl3e129u/0258da5b2d6c4e1592d65d90251680aa/original/Screenshot-2026-07-10-120257.png" TargetMode="External"/><Relationship Id="rId3" Type="http://schemas.openxmlformats.org/officeDocument/2006/relationships/hyperlink" Target="https://cdn.gamma.app/l4w8zewnl3e129u/a19e181986634f4799a2da680d4a3740/original/Screenshot-2026-07-10-120354.png" TargetMode="External"/><Relationship Id="rId4" Type="http://schemas.openxmlformats.org/officeDocument/2006/relationships/hyperlink" Target="https://cdn.gamma.app/l4w8zewnl3e129u/dcda2c141a694c4fb31605179b947709/original/Screenshot-2026-07-10-120454.png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2568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NextLead 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99805"/>
            <a:ext cx="6296860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 Powered CRM Lead Management Platform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Project Presentation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Made By: Ambreesh Shukla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76213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Problem Statement &amp; Objectives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819573"/>
            <a:ext cx="2952478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Problems with Manual Lead Management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475210"/>
            <a:ext cx="2952478" cy="10725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9239" y="2654895"/>
            <a:ext cx="251691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Sales teams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waste hours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manually entering leads from CSV files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684290"/>
            <a:ext cx="2952478" cy="10725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9239" y="3863975"/>
            <a:ext cx="251691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Inconsistent field naming across CSV exports causes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data loss</a:t>
            </a:r>
            <a:endParaRPr lang="en-US" sz="12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893370"/>
            <a:ext cx="2952478" cy="83482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89239" y="5073055"/>
            <a:ext cx="251691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 intelligent mapping —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wrong data ends up in wrong fields</a:t>
            </a:r>
            <a:endParaRPr lang="en-US" sz="1250" dirty="0"/>
          </a:p>
        </p:txBody>
      </p:sp>
      <p:sp>
        <p:nvSpPr>
          <p:cNvPr id="11" name="Text 5"/>
          <p:cNvSpPr/>
          <p:nvPr/>
        </p:nvSpPr>
        <p:spPr>
          <a:xfrm>
            <a:off x="8584092" y="1819573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Objectives</a:t>
            </a:r>
            <a:endParaRPr lang="en-US" sz="15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4317" y="2232075"/>
            <a:ext cx="240996" cy="24100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06168" y="2224187"/>
            <a:ext cx="243040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an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AI-assisted CSV import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that auto-maps fields to CRM schema</a:t>
            </a:r>
            <a:endParaRPr lang="en-US" sz="12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44317" y="3218309"/>
            <a:ext cx="240996" cy="24100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106168" y="3210421"/>
            <a:ext cx="243040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Provide 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real-time dashboard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with lead analytics and status tracking</a:t>
            </a:r>
            <a:endParaRPr lang="en-US" sz="12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44317" y="4204543"/>
            <a:ext cx="240996" cy="24100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106168" y="4196655"/>
            <a:ext cx="243040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Deliver a fully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containerized, deployable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CRM platform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230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Technology Stack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97397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modern, production-grade stack powering every layer of NextLead AI.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88716"/>
            <a:ext cx="321262" cy="321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280642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Next.js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2613521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React-based framework for fast, server-rendered UI with seamless routing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173" y="1788716"/>
            <a:ext cx="321262" cy="3212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1173" y="2280642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TypeScript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181173" y="2613521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Type-safe development across both frontend and backend codebases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62027"/>
            <a:ext cx="321262" cy="3212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853954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Node.js + Express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61475" y="4186833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RESTful backend API handling all business logic and data operations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1173" y="3362027"/>
            <a:ext cx="321262" cy="3212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81173" y="3853954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Google Gemini AI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181173" y="4186833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Powers intelligent CSV field extraction and automatic column mapping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935339"/>
            <a:ext cx="321262" cy="3212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5427266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Docker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661475" y="5760145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Containerized deployment ensuring consistent environments everywhere</a:t>
            </a:r>
            <a:endParaRPr lang="en-US" sz="12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1173" y="4935339"/>
            <a:ext cx="321262" cy="3212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81173" y="5427266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Vercel + Render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6181173" y="5760145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Cloud deployment platform hosting the live production application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852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454" y="2586831"/>
            <a:ext cx="4523766" cy="1954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58971" y="3922836"/>
            <a:ext cx="671681" cy="244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Next.js Frontend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2958971" y="4202308"/>
            <a:ext cx="671681" cy="16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UI at nextlead-ai.vercel.app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683675" y="4045172"/>
            <a:ext cx="671681" cy="122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Gemini AI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683675" y="4202308"/>
            <a:ext cx="671681" cy="16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Process and enrich requests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2098759" y="2763149"/>
            <a:ext cx="671681" cy="122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 Browser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098759" y="2920284"/>
            <a:ext cx="671681" cy="16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Interact via browser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518264" y="2763149"/>
            <a:ext cx="671681" cy="122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Storage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518264" y="2920284"/>
            <a:ext cx="671681" cy="16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Persist logs and records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832027" y="2763149"/>
            <a:ext cx="671681" cy="244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Express Backend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32027" y="3042621"/>
            <a:ext cx="671681" cy="16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API and routing layer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61475" y="4630638"/>
            <a:ext cx="75693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Five-layer architecture from browser to data storage, with AI processing embedded in the backend pipeline.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927181" y="1110357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Layer Breakdown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27181" y="1392138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927181" y="1588095"/>
            <a:ext cx="3609289" cy="1270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8" name="Text 15"/>
          <p:cNvSpPr/>
          <p:nvPr/>
        </p:nvSpPr>
        <p:spPr>
          <a:xfrm>
            <a:off x="7927181" y="1674912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 (Browser)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27181" y="1946672"/>
            <a:ext cx="360928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Interacts via Next.js frontend at nextlead-ai.vercel.app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927181" y="2280642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927181" y="2476599"/>
            <a:ext cx="3609289" cy="1270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2" name="Text 19"/>
          <p:cNvSpPr/>
          <p:nvPr/>
        </p:nvSpPr>
        <p:spPr>
          <a:xfrm>
            <a:off x="7927181" y="2563416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27181" y="2835176"/>
            <a:ext cx="360928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Next.js handles routing, UI, CSV preview, and dashboard rendering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927181" y="3331270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927181" y="3527227"/>
            <a:ext cx="3609289" cy="1270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6" name="Text 23"/>
          <p:cNvSpPr/>
          <p:nvPr/>
        </p:nvSpPr>
        <p:spPr>
          <a:xfrm>
            <a:off x="7927181" y="3614043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927181" y="3885803"/>
            <a:ext cx="360928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Express.js processes uploads, manages leads, and calls AI services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927181" y="4381897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927181" y="4577854"/>
            <a:ext cx="3609289" cy="1270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30" name="Text 27"/>
          <p:cNvSpPr/>
          <p:nvPr/>
        </p:nvSpPr>
        <p:spPr>
          <a:xfrm>
            <a:off x="7927181" y="4664670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Processing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927181" y="4936430"/>
            <a:ext cx="360928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Gemini AI extracts and maps CSV fields to CRM schema automatically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927181" y="5432524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927181" y="5628481"/>
            <a:ext cx="3609289" cy="1270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34" name="Text 31"/>
          <p:cNvSpPr/>
          <p:nvPr/>
        </p:nvSpPr>
        <p:spPr>
          <a:xfrm>
            <a:off x="7927181" y="5715298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927181" y="5987058"/>
            <a:ext cx="360928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Leads, analytics, and user data stored and served via API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760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Workflow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58267"/>
            <a:ext cx="1147833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From raw CSV upload to live dashboard — six intelligent steps powered by Gemini AI.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620" y="1303933"/>
            <a:ext cx="7006454" cy="30214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64093" y="3752370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Preview &amp; Confirm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064093" y="3052962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Field Mapping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064093" y="2360620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Extraction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064093" y="1661212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Upload CSV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4412357"/>
            <a:ext cx="10868745" cy="1919784"/>
          </a:xfrm>
          <a:prstGeom prst="roundRect">
            <a:avLst>
              <a:gd name="adj" fmla="val 2646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825" y="4418707"/>
            <a:ext cx="5428023" cy="635695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11" name="Text 8"/>
          <p:cNvSpPr/>
          <p:nvPr/>
        </p:nvSpPr>
        <p:spPr>
          <a:xfrm>
            <a:off x="788670" y="4539555"/>
            <a:ext cx="5186332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① Upload CSV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8670" y="4774902"/>
            <a:ext cx="5186332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 selects a CSV file on the Import Leads page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95848" y="4418707"/>
            <a:ext cx="5428023" cy="635695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848" y="4418707"/>
            <a:ext cx="12700" cy="635695"/>
          </a:xfrm>
          <a:prstGeom prst="roundRect">
            <a:avLst>
              <a:gd name="adj" fmla="val 399967"/>
            </a:avLst>
          </a:prstGeom>
          <a:solidFill>
            <a:srgbClr val="414A7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6693" y="4539555"/>
            <a:ext cx="5186332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② AI Extraction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16693" y="4774902"/>
            <a:ext cx="5186332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Gemini AI reads raw columns and detects field intent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67825" y="5054402"/>
            <a:ext cx="5428023" cy="635695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825" y="5054402"/>
            <a:ext cx="5428023" cy="12700"/>
          </a:xfrm>
          <a:prstGeom prst="roundRect">
            <a:avLst>
              <a:gd name="adj" fmla="val 399967"/>
            </a:avLst>
          </a:prstGeom>
          <a:solidFill>
            <a:srgbClr val="414A70"/>
          </a:solidFill>
          <a:ln/>
        </p:spPr>
      </p:sp>
      <p:sp>
        <p:nvSpPr>
          <p:cNvPr id="19" name="Text 16"/>
          <p:cNvSpPr/>
          <p:nvPr/>
        </p:nvSpPr>
        <p:spPr>
          <a:xfrm>
            <a:off x="788670" y="5175250"/>
            <a:ext cx="5186332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③ Field Mapping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88670" y="5410597"/>
            <a:ext cx="5186332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 maps CSV columns → CRM fields (name, phone, email, city, remarks)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95848" y="5054402"/>
            <a:ext cx="5428023" cy="635695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22" name="Shape 19"/>
          <p:cNvSpPr/>
          <p:nvPr/>
        </p:nvSpPr>
        <p:spPr>
          <a:xfrm>
            <a:off x="6095848" y="5054402"/>
            <a:ext cx="12700" cy="635695"/>
          </a:xfrm>
          <a:prstGeom prst="roundRect">
            <a:avLst>
              <a:gd name="adj" fmla="val 399967"/>
            </a:avLst>
          </a:prstGeom>
          <a:solidFill>
            <a:srgbClr val="414A70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5848" y="5054402"/>
            <a:ext cx="5428023" cy="12700"/>
          </a:xfrm>
          <a:prstGeom prst="roundRect">
            <a:avLst>
              <a:gd name="adj" fmla="val 399967"/>
            </a:avLst>
          </a:prstGeom>
          <a:solidFill>
            <a:srgbClr val="414A7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6693" y="5175250"/>
            <a:ext cx="5186332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④ Preview &amp; Confirm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216693" y="5410597"/>
            <a:ext cx="5186332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 reviews mapped data before finalizing the import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67825" y="5690096"/>
            <a:ext cx="5428023" cy="635695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825" y="5690096"/>
            <a:ext cx="5428023" cy="12700"/>
          </a:xfrm>
          <a:prstGeom prst="roundRect">
            <a:avLst>
              <a:gd name="adj" fmla="val 399967"/>
            </a:avLst>
          </a:prstGeom>
          <a:solidFill>
            <a:srgbClr val="414A70"/>
          </a:solidFill>
          <a:ln/>
        </p:spPr>
      </p:sp>
      <p:sp>
        <p:nvSpPr>
          <p:cNvPr id="28" name="Text 25"/>
          <p:cNvSpPr/>
          <p:nvPr/>
        </p:nvSpPr>
        <p:spPr>
          <a:xfrm>
            <a:off x="788670" y="5810945"/>
            <a:ext cx="5186332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⑤ Leads Generated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88670" y="6046291"/>
            <a:ext cx="5186332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Confirmed leads are saved and appear in the Leads page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095848" y="5690096"/>
            <a:ext cx="5428023" cy="635695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31" name="Shape 28"/>
          <p:cNvSpPr/>
          <p:nvPr/>
        </p:nvSpPr>
        <p:spPr>
          <a:xfrm>
            <a:off x="6095848" y="5690096"/>
            <a:ext cx="12700" cy="635695"/>
          </a:xfrm>
          <a:prstGeom prst="roundRect">
            <a:avLst>
              <a:gd name="adj" fmla="val 399967"/>
            </a:avLst>
          </a:prstGeom>
          <a:solidFill>
            <a:srgbClr val="414A70"/>
          </a:solidFill>
          <a:ln/>
        </p:spPr>
      </p:sp>
      <p:sp>
        <p:nvSpPr>
          <p:cNvPr id="32" name="Shape 29"/>
          <p:cNvSpPr/>
          <p:nvPr/>
        </p:nvSpPr>
        <p:spPr>
          <a:xfrm>
            <a:off x="6095848" y="5690096"/>
            <a:ext cx="5428023" cy="12700"/>
          </a:xfrm>
          <a:prstGeom prst="roundRect">
            <a:avLst>
              <a:gd name="adj" fmla="val 399967"/>
            </a:avLst>
          </a:prstGeom>
          <a:solidFill>
            <a:srgbClr val="414A70"/>
          </a:solidFill>
          <a:ln/>
        </p:spPr>
      </p:sp>
      <p:sp>
        <p:nvSpPr>
          <p:cNvPr id="33" name="Text 30"/>
          <p:cNvSpPr/>
          <p:nvPr/>
        </p:nvSpPr>
        <p:spPr>
          <a:xfrm>
            <a:off x="6216693" y="5810945"/>
            <a:ext cx="5186332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⑥ Dashboard Updates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216693" y="6046291"/>
            <a:ext cx="5186332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Analytics, status breakdown, and lead sources refresh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273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Features Implemented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388368"/>
            <a:ext cx="5381193" cy="1311176"/>
          </a:xfrm>
          <a:prstGeom prst="roundRect">
            <a:avLst>
              <a:gd name="adj" fmla="val 454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506" y="1536402"/>
            <a:ext cx="425241" cy="425252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6482" y="1653282"/>
            <a:ext cx="191289" cy="1912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506" y="2067917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9506" y="2353072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Leads over time chart, status breakdown donut, top lead sources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48928" y="1388368"/>
            <a:ext cx="5381292" cy="1311176"/>
          </a:xfrm>
          <a:prstGeom prst="roundRect">
            <a:avLst>
              <a:gd name="adj" fmla="val 454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96959" y="1536402"/>
            <a:ext cx="425241" cy="425252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935" y="1653282"/>
            <a:ext cx="191289" cy="1912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96959" y="2067917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Import Leads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296959" y="2353072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CSV upload with 4-step wizard — Upload → AI Extract → Preview → Confirm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61475" y="2805807"/>
            <a:ext cx="5381193" cy="1311176"/>
          </a:xfrm>
          <a:prstGeom prst="roundRect">
            <a:avLst>
              <a:gd name="adj" fmla="val 454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09506" y="2953841"/>
            <a:ext cx="425241" cy="425252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482" y="3070721"/>
            <a:ext cx="191289" cy="1912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506" y="3485356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Field Mapping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09506" y="3770511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Gemini AI auto-maps any CSV layout to CRM schema intelligently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48928" y="2805807"/>
            <a:ext cx="5381292" cy="1311176"/>
          </a:xfrm>
          <a:prstGeom prst="roundRect">
            <a:avLst>
              <a:gd name="adj" fmla="val 454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96959" y="2953841"/>
            <a:ext cx="425241" cy="425252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935" y="3070721"/>
            <a:ext cx="191289" cy="19129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96959" y="3485356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Leads Management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6959" y="3770511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View, search, and manage all imported leads in one place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61475" y="4223246"/>
            <a:ext cx="5381193" cy="1311176"/>
          </a:xfrm>
          <a:prstGeom prst="roundRect">
            <a:avLst>
              <a:gd name="adj" fmla="val 454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09506" y="4371280"/>
            <a:ext cx="425241" cy="425252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6482" y="4488160"/>
            <a:ext cx="191289" cy="19129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9506" y="4902795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Analytics Page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809506" y="5187950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Lead status breakdown, source breakdown, leads over time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48928" y="4223246"/>
            <a:ext cx="5381292" cy="1311176"/>
          </a:xfrm>
          <a:prstGeom prst="roundRect">
            <a:avLst>
              <a:gd name="adj" fmla="val 454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96959" y="4371280"/>
            <a:ext cx="425241" cy="425252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935" y="4488160"/>
            <a:ext cx="191289" cy="19129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296959" y="4902795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Settings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296959" y="5187950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Profile update, avatar, theme toggle (light/dark), email notifications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61475" y="5653980"/>
            <a:ext cx="10868745" cy="471190"/>
          </a:xfrm>
          <a:prstGeom prst="roundRect">
            <a:avLst>
              <a:gd name="adj" fmla="val 12636"/>
            </a:avLst>
          </a:prstGeom>
          <a:solidFill>
            <a:srgbClr val="283157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3156" y="5846763"/>
            <a:ext cx="177200" cy="14168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122037" y="5795665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Skipped Rows Detection: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Rows with missing contact info are automatically flagged during import — no data loss goes unnoticed.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4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Screenshots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88207"/>
            <a:ext cx="6903269" cy="38831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682" y="5783957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Live Dashboard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Leads over time, status breakdown &amp; source analytics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251" y="2492970"/>
            <a:ext cx="3504219" cy="1971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32251" y="4676676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AI-Powered CSV Import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Gemini auto-maps columns to CRM fields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4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Analytics &amp; Settings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88207"/>
            <a:ext cx="6903269" cy="38831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682" y="5783957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Analytics Page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Status breakdown, source distribution &amp; lead trends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251" y="2492970"/>
            <a:ext cx="3504219" cy="1971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32251" y="4676676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User Settings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Profile, avatar, theme toggle &amp; notification controls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738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Docker Implementation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2502" y="1359396"/>
            <a:ext cx="3861398" cy="330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6087" y="2350297"/>
            <a:ext cx="1489093" cy="18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Frontend: Next.js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37945" y="2144714"/>
            <a:ext cx="1297166" cy="372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Backend: Express API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895980" y="3693409"/>
            <a:ext cx="1125092" cy="372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docker-compose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1475" y="4784427"/>
            <a:ext cx="7553136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single 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command spins up the entire full-stack environment locally.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7244" y="2488704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Docker?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57244" y="2752626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Container Architecture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957244" y="3080345"/>
            <a:ext cx="3579227" cy="830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Container 1: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Next.js Frontend — deployed on Vercel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Container 2: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Express Backend API — deployed on Render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1475" y="5210770"/>
            <a:ext cx="3552042" cy="1009848"/>
          </a:xfrm>
          <a:prstGeom prst="roundRect">
            <a:avLst>
              <a:gd name="adj" fmla="val 5896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205" y="5371505"/>
            <a:ext cx="3230581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No "Works on My Machine"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205" y="5663009"/>
            <a:ext cx="323058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Identical environment across dev, staging, and production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19777" y="5210770"/>
            <a:ext cx="3552042" cy="1009848"/>
          </a:xfrm>
          <a:prstGeom prst="roundRect">
            <a:avLst>
              <a:gd name="adj" fmla="val 5896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0507" y="5371505"/>
            <a:ext cx="3230581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Isolated Containers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480507" y="5663009"/>
            <a:ext cx="323058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Frontend and Backend run independently with clean separation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78079" y="5210770"/>
            <a:ext cx="3552042" cy="1009848"/>
          </a:xfrm>
          <a:prstGeom prst="roundRect">
            <a:avLst>
              <a:gd name="adj" fmla="val 5896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810" y="5371505"/>
            <a:ext cx="3230581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Cloud Ready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138810" y="5663009"/>
            <a:ext cx="323058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Simplifies deployment to any cloud provider or server in minutes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422"/>
            <a:ext cx="10868745" cy="486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Challenges, Learnings &amp; Conclusion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88070"/>
            <a:ext cx="5244572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Challenges Faced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75420"/>
            <a:ext cx="2558192" cy="16285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2294" y="1950045"/>
            <a:ext cx="213275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2294" y="2321322"/>
            <a:ext cx="2132753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Crafting reliable prompts for Gemini to map arbitrary CSV columns consistently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7755" y="1775420"/>
            <a:ext cx="2558291" cy="16285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98574" y="1950045"/>
            <a:ext cx="2132852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CSV Parsing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598574" y="2321322"/>
            <a:ext cx="2132852" cy="90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Handling varied formats, encodings, and missing/skipped rows gracefully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32088"/>
            <a:ext cx="2558192" cy="16285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2294" y="3706713"/>
            <a:ext cx="213275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Docker Networking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12294" y="4077990"/>
            <a:ext cx="2132753" cy="90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Configuring multi-container networking between frontend and backend services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7755" y="3532088"/>
            <a:ext cx="2558291" cy="16285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98574" y="3706713"/>
            <a:ext cx="2132852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Real-time Analytics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3598574" y="4077990"/>
            <a:ext cx="2132852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Keeping dashboard charts in sync automatically after each import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291998" y="1388070"/>
            <a:ext cx="5244572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Learnings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291998" y="1775420"/>
            <a:ext cx="19050" cy="1138535"/>
          </a:xfrm>
          <a:prstGeom prst="roundRect">
            <a:avLst>
              <a:gd name="adj" fmla="val 59999"/>
            </a:avLst>
          </a:prstGeom>
          <a:solidFill>
            <a:srgbClr val="8C98CA"/>
          </a:solidFill>
          <a:ln/>
        </p:spPr>
      </p:sp>
      <p:sp>
        <p:nvSpPr>
          <p:cNvPr id="18" name="Text 12"/>
          <p:cNvSpPr/>
          <p:nvPr/>
        </p:nvSpPr>
        <p:spPr>
          <a:xfrm>
            <a:off x="6525454" y="1890712"/>
            <a:ext cx="5011116" cy="90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NextLead AI successfully delivers an intelligent, end-to-end CRM lead management platform — from AI-powered CSV import to live analytics — built and deployed as a containerized full-stack application.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987206" y="3058220"/>
            <a:ext cx="5854157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Thank You! — Made By: Ambreesh Shukla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61475" y="5448995"/>
            <a:ext cx="350134" cy="350143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139697" y="5502473"/>
            <a:ext cx="303790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Full-Stack Mastery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39697" y="5822553"/>
            <a:ext cx="3037903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Production-like development with Next.js + Express end-to-end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37735" y="5448995"/>
            <a:ext cx="350134" cy="350143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15958" y="5502473"/>
            <a:ext cx="303790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Prompt Engineering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815958" y="5822553"/>
            <a:ext cx="3037903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Practical experience with Google Gemini API in a real product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013996" y="5448995"/>
            <a:ext cx="350134" cy="350143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492218" y="5502473"/>
            <a:ext cx="3038002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DevOps with Docker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492218" y="5822553"/>
            <a:ext cx="3038002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Containerization and deployment using Docker Compose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06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Sources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09330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Screenshot 2026-07-17 004353.png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Screenshot 2026-07-10 120257.png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Screenshot 2026-07-10 120354.png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Screenshot 2026-07-10 120454.png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C98C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2026-07-16T19:58:22Z</dcterms:created>
  <dcterms:modified xsi:type="dcterms:W3CDTF">2026-07-16T19:58:22Z</dcterms:modified>
</cp:coreProperties>
</file>